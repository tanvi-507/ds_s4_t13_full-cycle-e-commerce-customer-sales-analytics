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62" r:id="rId3"/>
    <p:sldId id="707" r:id="rId4"/>
    <p:sldId id="257" r:id="rId5"/>
    <p:sldId id="904" r:id="rId6"/>
    <p:sldId id="902" r:id="rId7"/>
    <p:sldId id="905" r:id="rId8"/>
    <p:sldId id="906" r:id="rId9"/>
    <p:sldId id="907" r:id="rId10"/>
    <p:sldId id="913" r:id="rId11"/>
    <p:sldId id="908" r:id="rId12"/>
    <p:sldId id="909" r:id="rId13"/>
    <p:sldId id="910" r:id="rId14"/>
    <p:sldId id="912" r:id="rId15"/>
    <p:sldId id="91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595666"/>
              </p:ext>
            </p:extLst>
          </p:nvPr>
        </p:nvGraphicFramePr>
        <p:xfrm>
          <a:off x="8193271" y="4898509"/>
          <a:ext cx="3702050" cy="1697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Team Members</a:t>
                      </a:r>
                      <a:r>
                        <a:rPr lang="en-IN" sz="1800" dirty="0">
                          <a:latin typeface="Aptos"/>
                        </a:rPr>
                        <a:t>:</a:t>
                      </a:r>
                      <a:endParaRPr sz="1800" dirty="0">
                        <a:latin typeface="Apto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Dhanya Sri — 2420030023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Tanvi Bandaru — 2420030507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Sarvani </a:t>
                      </a:r>
                      <a:r>
                        <a:rPr sz="1800" dirty="0" err="1">
                          <a:latin typeface="Aptos"/>
                        </a:rPr>
                        <a:t>Topella</a:t>
                      </a:r>
                      <a:r>
                        <a:rPr sz="1800" dirty="0">
                          <a:latin typeface="Aptos"/>
                        </a:rPr>
                        <a:t> — 2420030367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27629"/>
              </p:ext>
            </p:extLst>
          </p:nvPr>
        </p:nvGraphicFramePr>
        <p:xfrm>
          <a:off x="-451552" y="4090469"/>
          <a:ext cx="5902325" cy="2520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sz="18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Under the Guidance of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Aptos"/>
                        </a:rPr>
                        <a:t>Ms. B Pratusha</a:t>
                      </a:r>
                      <a:endParaRPr sz="1800" dirty="0">
                        <a:latin typeface="Apto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dirty="0" err="1">
                          <a:latin typeface="Aptos"/>
                        </a:rPr>
                        <a:t>Assisstant</a:t>
                      </a:r>
                      <a:r>
                        <a:rPr lang="en-IN" sz="1800" dirty="0">
                          <a:latin typeface="Aptos"/>
                        </a:rPr>
                        <a:t> Professor</a:t>
                      </a:r>
                      <a:endParaRPr sz="1800" dirty="0">
                        <a:latin typeface="Apto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Department of Computer Science and Engineering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KLH CSE, </a:t>
                      </a:r>
                      <a:r>
                        <a:rPr sz="1800" dirty="0" err="1">
                          <a:latin typeface="Aptos"/>
                        </a:rPr>
                        <a:t>Bowrampet</a:t>
                      </a:r>
                      <a:r>
                        <a:rPr sz="1800" dirty="0">
                          <a:latin typeface="Aptos"/>
                        </a:rPr>
                        <a:t> Campus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07935" y="4077805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lvl="0" algn="ctr">
              <a:defRPr/>
            </a:pPr>
            <a:r>
              <a:rPr sz="2500" b="1" dirty="0" err="1">
                <a:solidFill>
                  <a:srgbClr val="FFFFFF"/>
                </a:solidFill>
                <a:latin typeface="Aptos"/>
              </a:rPr>
              <a:t>RetailIQ</a:t>
            </a:r>
            <a:r>
              <a:rPr sz="2500" b="1" dirty="0">
                <a:solidFill>
                  <a:srgbClr val="FFFFFF"/>
                </a:solidFill>
                <a:latin typeface="Aptos"/>
              </a:rPr>
              <a:t>: E-Commerce Customer &amp; Sales Analytics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lvl="0" algn="ctr">
              <a:defRPr/>
            </a:pPr>
            <a:r>
              <a:rPr sz="1800" b="1">
                <a:solidFill>
                  <a:srgbClr val="1C4170"/>
                </a:solidFill>
                <a:latin typeface="Aptos"/>
              </a:rPr>
              <a:t>DATA SCIENCE (24AD3107)  |  PROJECT REVIEW–1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73152" tIns="36576" rIns="73152" bIns="36576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700" b="1">
                <a:solidFill>
                  <a:srgbClr val="0066B3"/>
                </a:solidFill>
                <a:latin typeface="Aptos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0">
                <a:solidFill>
                  <a:srgbClr val="5F6770"/>
                </a:solidFill>
                <a:latin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2302525" y="458960"/>
            <a:ext cx="6698256" cy="4893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700" b="1" dirty="0">
                <a:solidFill>
                  <a:srgbClr val="0066B3"/>
                </a:solidFill>
                <a:latin typeface="Aptos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2548" y="1274100"/>
            <a:ext cx="10178142" cy="586013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0" dirty="0">
                <a:solidFill>
                  <a:srgbClr val="282D34"/>
                </a:solidFill>
                <a:latin typeface="Aptos"/>
              </a:rPr>
              <a:t>E-commerce stores collect lots of order data, but it can be hard to turn it into clear business decisions.</a:t>
            </a:r>
            <a:endParaRPr lang="en-GB" dirty="0">
              <a:solidFill>
                <a:srgbClr val="282D34"/>
              </a:solidFill>
              <a:latin typeface="Aptos"/>
            </a:endParaRPr>
          </a:p>
          <a:p>
            <a:pPr>
              <a:lnSpc>
                <a:spcPct val="150000"/>
              </a:lnSpc>
            </a:pPr>
            <a:r>
              <a:rPr lang="en-GB" b="1" dirty="0"/>
              <a:t>Customer patterns</a:t>
            </a:r>
            <a:endParaRPr lang="en-GB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Identify frequent and high-value customers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Understand customers who may stop buying</a:t>
            </a:r>
          </a:p>
          <a:p>
            <a:pPr>
              <a:lnSpc>
                <a:spcPct val="150000"/>
              </a:lnSpc>
            </a:pPr>
            <a:r>
              <a:rPr lang="en-GB" b="1" dirty="0"/>
              <a:t>Product performance</a:t>
            </a:r>
            <a:endParaRPr lang="en-GB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Identify top-performing products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Compare sales across categories </a:t>
            </a:r>
          </a:p>
          <a:p>
            <a:pPr>
              <a:lnSpc>
                <a:spcPct val="150000"/>
              </a:lnSpc>
            </a:pPr>
            <a:r>
              <a:rPr lang="en-GB" b="1" dirty="0"/>
              <a:t>Product combinations</a:t>
            </a:r>
            <a:endParaRPr lang="en-GB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Find products commonly purchased together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Identify useful product associations </a:t>
            </a:r>
          </a:p>
          <a:p>
            <a:pPr>
              <a:lnSpc>
                <a:spcPct val="150000"/>
              </a:lnSpc>
            </a:pPr>
            <a:r>
              <a:rPr lang="en-GB" b="1" dirty="0"/>
              <a:t>Sales planning</a:t>
            </a:r>
            <a:endParaRPr lang="en-GB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Analyze</a:t>
            </a:r>
            <a:r>
              <a:rPr lang="en-GB" dirty="0"/>
              <a:t> historical sales trends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 future sales planning</a:t>
            </a:r>
          </a:p>
          <a:p>
            <a:pPr algn="ctr">
              <a:lnSpc>
                <a:spcPct val="150000"/>
              </a:lnSpc>
            </a:pPr>
            <a:endParaRPr lang="en-GB" sz="1800" b="0" dirty="0">
              <a:solidFill>
                <a:srgbClr val="282D34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0">
                <a:solidFill>
                  <a:srgbClr val="5F6770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32F0-FFBD-2ED2-7D20-04BF09FB6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534" y="1277956"/>
            <a:ext cx="8747393" cy="54313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1. Prepare the data</a:t>
            </a:r>
            <a:br>
              <a:rPr lang="en-GB" sz="1800" dirty="0"/>
            </a:br>
            <a:r>
              <a:rPr lang="en-GB" sz="1800" dirty="0"/>
              <a:t>Clean missing, duplicate and inconsistent records.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2. Explore sales</a:t>
            </a:r>
            <a:br>
              <a:rPr lang="en-GB" sz="1800" dirty="0"/>
            </a:br>
            <a:r>
              <a:rPr lang="en-GB" sz="1800" dirty="0" err="1"/>
              <a:t>Analyze</a:t>
            </a:r>
            <a:r>
              <a:rPr lang="en-GB" sz="1800" dirty="0"/>
              <a:t> sales trends across time, regions and categories.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3. Group customers</a:t>
            </a:r>
            <a:br>
              <a:rPr lang="en-GB" sz="1800" dirty="0"/>
            </a:br>
            <a:r>
              <a:rPr lang="en-GB" sz="1800" dirty="0"/>
              <a:t>Use RFM to segment customers by buying </a:t>
            </a:r>
            <a:r>
              <a:rPr lang="en-GB" sz="1800" dirty="0" err="1"/>
              <a:t>behavior</a:t>
            </a:r>
            <a:r>
              <a:rPr lang="en-GB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4. Find product links</a:t>
            </a:r>
            <a:br>
              <a:rPr lang="en-GB" sz="1800" dirty="0"/>
            </a:br>
            <a:r>
              <a:rPr lang="en-GB" sz="1800" dirty="0"/>
              <a:t>Identify products that are frequently purchased together.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5. Explore forecasting</a:t>
            </a:r>
            <a:br>
              <a:rPr lang="en-GB" sz="1800" dirty="0"/>
            </a:br>
            <a:r>
              <a:rPr lang="en-GB" sz="1800" dirty="0"/>
              <a:t>Use past sales to build and test a simple forecast.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A30DFA-99E2-9EB8-D307-CE1DBDCE33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082" y="451326"/>
            <a:ext cx="10515600" cy="459421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lang="en-GB" sz="2700" b="1" dirty="0">
                <a:solidFill>
                  <a:srgbClr val="0066B3"/>
                </a:solidFill>
                <a:latin typeface="Aptos"/>
              </a:rPr>
              <a:t>                                                          Objectives</a:t>
            </a:r>
            <a:endParaRPr sz="2700" b="1" dirty="0">
              <a:solidFill>
                <a:srgbClr val="0066B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3085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173318"/>
              </p:ext>
            </p:extLst>
          </p:nvPr>
        </p:nvGraphicFramePr>
        <p:xfrm>
          <a:off x="373798" y="1366093"/>
          <a:ext cx="11381200" cy="495489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04209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56104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tx1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tx1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tx1"/>
                          </a:solidFill>
                          <a:latin typeface="Aptos"/>
                        </a:rPr>
                        <a:t>How it helps our project</a:t>
                      </a:r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tx1"/>
                          </a:solidFill>
                          <a:latin typeface="Aptos"/>
                        </a:rPr>
                        <a:t>Point to consider</a:t>
                      </a:r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8035">
                <a:tc>
                  <a:txBody>
                    <a:bodyPr/>
                    <a:lstStyle/>
                    <a:p>
                      <a:pPr algn="l"/>
                      <a:endParaRPr lang="en-GB" sz="1600" b="1" dirty="0">
                        <a:solidFill>
                          <a:srgbClr val="0066B3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600" b="1" dirty="0">
                          <a:solidFill>
                            <a:srgbClr val="0066B3"/>
                          </a:solidFill>
                          <a:latin typeface="Aptos"/>
                        </a:rPr>
                        <a:t>Customer analytics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dirty="0">
                          <a:solidFill>
                            <a:srgbClr val="282D34"/>
                          </a:solidFill>
                          <a:latin typeface="Aptos"/>
                        </a:rPr>
                        <a:t>  </a:t>
                      </a:r>
                    </a:p>
                    <a:p>
                      <a:pPr algn="l"/>
                      <a:endParaRPr lang="en-GB" sz="16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RFM segmentation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dirty="0">
                          <a:solidFill>
                            <a:srgbClr val="282D34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Groups customers by recency, frequency and spend.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6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Segment cut-offs depend on the data.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</a:t>
                      </a:r>
                    </a:p>
                    <a:p>
                      <a:r>
                        <a:rPr dirty="0"/>
                        <a:t>Depends on chosen RFM cut-offs.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465378">
                <a:tc>
                  <a:txBody>
                    <a:bodyPr/>
                    <a:lstStyle/>
                    <a:p>
                      <a:pPr algn="l"/>
                      <a:endParaRPr lang="en-GB" sz="1600" b="1" dirty="0">
                        <a:solidFill>
                          <a:srgbClr val="0066B3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600" b="1" dirty="0">
                          <a:solidFill>
                            <a:srgbClr val="0066B3"/>
                          </a:solidFill>
                          <a:latin typeface="Aptos"/>
                        </a:rPr>
                        <a:t>Market basket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rgbClr val="282D34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sz="1800" b="0" dirty="0" err="1">
                          <a:solidFill>
                            <a:srgbClr val="282D34"/>
                          </a:solidFill>
                          <a:latin typeface="Aptos"/>
                        </a:rPr>
                        <a:t>Apriori</a:t>
                      </a:r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 / FP-Growth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Finds products often appearing in the same order.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Results depend on basket setup and thresholds.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</a:t>
                      </a:r>
                    </a:p>
                    <a:p>
                      <a:r>
                        <a:rPr dirty="0"/>
                        <a:t>Depends on basket definition and thresholds.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465378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rgbClr val="0066B3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sz="1600" b="1" dirty="0">
                          <a:solidFill>
                            <a:srgbClr val="0066B3"/>
                          </a:solidFill>
                          <a:latin typeface="Aptos"/>
                        </a:rPr>
                        <a:t>Sales forecasting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Regression / time series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Uses past sales to estimate future trends.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Test on later dates, not training data.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r>
                        <a:rPr dirty="0"/>
                        <a:t>Needs testing on unseen dates.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3062689" y="609755"/>
            <a:ext cx="5332164" cy="489365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ctr"/>
            <a:r>
              <a:rPr sz="2700" b="1" dirty="0">
                <a:solidFill>
                  <a:srgbClr val="0066B3"/>
                </a:solidFill>
                <a:latin typeface="Aptos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0">
                <a:solidFill>
                  <a:srgbClr val="5F6770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8E06-5B6B-AD2A-9BC4-4A85764E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>
                <a:solidFill>
                  <a:srgbClr val="0066B3"/>
                </a:solidFill>
                <a:latin typeface="Aptos"/>
              </a:rPr>
              <a:t>                                   Problem Gap Identification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CFE82-B10F-B2A2-82A3-F9B336D6C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446"/>
            <a:ext cx="10515600" cy="45795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Analyses done separately →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Combine data cleaning, EDA, RFM, basket analysis and forecasting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Customer data viewed alone →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Connect customer groups with product and sales patterns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Product sales without combinations →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Combine product performance with co-purchased items </a:t>
            </a: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Findings difficult to use →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Present insights through clear charts and summaries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80500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F7C-E2E1-4161-3D28-342493474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1395"/>
            <a:ext cx="10515600" cy="758595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rgbClr val="0066B3"/>
                </a:solidFill>
                <a:latin typeface="Aptos"/>
              </a:rPr>
              <a:t>                         Innovation, Creativity, and Novelty</a:t>
            </a:r>
            <a:br>
              <a:rPr lang="en-GB" sz="2800" b="1" dirty="0">
                <a:solidFill>
                  <a:srgbClr val="0066B3"/>
                </a:solidFill>
                <a:latin typeface="Aptos"/>
              </a:rPr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55845-F495-992C-94D1-85D978083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159"/>
            <a:ext cx="9969347" cy="508271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Connected steps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Connect raw data to final insights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Follow a clear analytical workflow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Combined view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 err="1"/>
              <a:t>Analyze</a:t>
            </a:r>
            <a:r>
              <a:rPr lang="en-GB" sz="1800" dirty="0"/>
              <a:t> customers, products and sales together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Connect different business perspectives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Useful takeaways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Support customer retention analysis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Support product focus and sales planning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Easy to understand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Use simple visualizations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Present results through a dashboard</a:t>
            </a:r>
          </a:p>
          <a:p>
            <a:pPr>
              <a:lnSpc>
                <a:spcPct val="10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29397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E1BE3-6E9D-A811-7F4F-6C29F387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90"/>
            <a:ext cx="10515600" cy="1119418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                            Project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4E51F-7B9A-303E-6915-11BD5653F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008"/>
            <a:ext cx="10515600" cy="495759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 err="1"/>
              <a:t>RetailIQ</a:t>
            </a:r>
            <a:r>
              <a:rPr lang="en-GB" sz="1800" dirty="0"/>
              <a:t> is designed as an integrated analytics workflow that converts e-commerce order data into useful customer, product, and sales insights.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Main Components: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Data Preparation</a:t>
            </a:r>
            <a:r>
              <a:rPr lang="en-GB" sz="1800" dirty="0"/>
              <a:t> – clean and organize raw records. 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Exploratory Data Analysis</a:t>
            </a:r>
            <a:r>
              <a:rPr lang="en-GB" sz="1800" dirty="0"/>
              <a:t> – understand sales and customer patterns. 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RFM Analysis</a:t>
            </a:r>
            <a:r>
              <a:rPr lang="en-GB" sz="1800" dirty="0"/>
              <a:t> – group customers based on buying </a:t>
            </a:r>
            <a:r>
              <a:rPr lang="en-GB" sz="1800" dirty="0" err="1"/>
              <a:t>behavior</a:t>
            </a:r>
            <a:r>
              <a:rPr lang="en-GB" sz="1800" dirty="0"/>
              <a:t>. 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Market Basket Analysis</a:t>
            </a:r>
            <a:r>
              <a:rPr lang="en-GB" sz="1800" dirty="0"/>
              <a:t> – identify products frequently purchased together. 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Sales Forecasting</a:t>
            </a:r>
            <a:r>
              <a:rPr lang="en-GB" sz="1800" dirty="0"/>
              <a:t> – explore future sales trends using historical data. 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Visualization &amp; Dashboard</a:t>
            </a:r>
            <a:r>
              <a:rPr lang="en-GB" sz="1800" dirty="0"/>
              <a:t> – present findings through clear charts and summaries.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403979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A026-BE40-8D8C-F5E6-38E67B61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98" y="229346"/>
            <a:ext cx="10515600" cy="799646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                             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A6EAF1-B81E-33C7-1FBA-880E47FFCC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366" y="1028993"/>
            <a:ext cx="10906699" cy="55996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31DCF2-66D4-170E-292F-DC27A5EEBBB5}"/>
              </a:ext>
            </a:extLst>
          </p:cNvPr>
          <p:cNvSpPr/>
          <p:nvPr/>
        </p:nvSpPr>
        <p:spPr>
          <a:xfrm>
            <a:off x="10373032" y="6272981"/>
            <a:ext cx="1288026" cy="2458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934FFE-DB0C-9966-8A4A-1FE66CE2140E}"/>
              </a:ext>
            </a:extLst>
          </p:cNvPr>
          <p:cNvSpPr/>
          <p:nvPr/>
        </p:nvSpPr>
        <p:spPr>
          <a:xfrm>
            <a:off x="4227871" y="1288026"/>
            <a:ext cx="4237703" cy="2753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78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1335-EA27-1445-76F3-ECE90EA1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890"/>
            <a:ext cx="10515600" cy="1067068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                         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27ACD-E96D-C69C-8C4F-D33517677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487" y="1292913"/>
            <a:ext cx="10515600" cy="535419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Data Preparation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Clean missing, duplicate and inconsistent records.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Prepare the dataset for analysis.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Exploratory Data Analysis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 err="1"/>
              <a:t>Analyze</a:t>
            </a:r>
            <a:r>
              <a:rPr lang="en-GB" sz="1800" dirty="0"/>
              <a:t> sales across time, regions and categories.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Identify customer and product patterns.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Customer &amp; Product Analysis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Use RFM to segment customers by buying </a:t>
            </a:r>
            <a:r>
              <a:rPr lang="en-GB" sz="1800" dirty="0" err="1"/>
              <a:t>behavior</a:t>
            </a:r>
            <a:r>
              <a:rPr lang="en-GB" sz="1800" dirty="0"/>
              <a:t>.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Use </a:t>
            </a:r>
            <a:r>
              <a:rPr lang="en-GB" sz="1800" dirty="0" err="1"/>
              <a:t>Apriori</a:t>
            </a:r>
            <a:r>
              <a:rPr lang="en-GB" sz="1800" b="1" dirty="0"/>
              <a:t> </a:t>
            </a:r>
            <a:r>
              <a:rPr lang="en-GB" sz="1800" dirty="0"/>
              <a:t>/</a:t>
            </a:r>
            <a:r>
              <a:rPr lang="en-GB" sz="1800" b="1" dirty="0"/>
              <a:t> </a:t>
            </a:r>
            <a:r>
              <a:rPr lang="en-GB" sz="1800" dirty="0"/>
              <a:t>FP-Growth to find products frequently purchased together.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Sales Forecasting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Use historical sales data to build and test a simple forecast.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Test the model on later/unseen dates.</a:t>
            </a:r>
          </a:p>
          <a:p>
            <a:pPr>
              <a:lnSpc>
                <a:spcPct val="10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988554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0F90B-A338-C90A-DD61-AE1383C9E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82" y="188856"/>
            <a:ext cx="10515600" cy="989949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Technical Soundness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898C3-2C7C-885A-1D68-9950D32C3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940"/>
            <a:ext cx="10515600" cy="528809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Data Quality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Handle missing, duplicate and inconsistent records.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Use cleaned data for reliable analysis.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Analytical Methods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RFM for customer segmentation. </a:t>
            </a:r>
          </a:p>
          <a:p>
            <a:pPr lvl="0">
              <a:lnSpc>
                <a:spcPct val="150000"/>
              </a:lnSpc>
            </a:pPr>
            <a:r>
              <a:rPr lang="en-GB" sz="1800" dirty="0" err="1"/>
              <a:t>Apriori</a:t>
            </a:r>
            <a:r>
              <a:rPr lang="en-GB" sz="1800" dirty="0"/>
              <a:t> / FP-Growth for product associations. 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Regression / Time Series for sales forecasting.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Validation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Test forecasting using later/unseen dates.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Consider appropriate thresholds for RFM and basket analysis.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346318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693C-7F00-FB4C-7475-E4BCA6AE0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    Technical Soundness of the Project</a:t>
            </a:r>
            <a:endParaRPr lang="en-GB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4B76EF-BF45-AF57-3A06-AC45247A1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453659"/>
              </p:ext>
            </p:extLst>
          </p:nvPr>
        </p:nvGraphicFramePr>
        <p:xfrm>
          <a:off x="838200" y="1828799"/>
          <a:ext cx="10515600" cy="42304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41385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28929972"/>
                    </a:ext>
                  </a:extLst>
                </a:gridCol>
              </a:tblGrid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                                       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                           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860672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865977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834197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Matplotlib / Seaborn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515442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324143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Development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Jupyter Notebook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311625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Final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Dashboard &amp;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771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416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D271-461E-5B64-640D-7B5242C2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8143"/>
            <a:ext cx="10515600" cy="1232545"/>
          </a:xfrm>
        </p:spPr>
        <p:txBody>
          <a:bodyPr>
            <a:normAutofit fontScale="90000"/>
          </a:bodyPr>
          <a:lstStyle/>
          <a:p>
            <a:r>
              <a:rPr lang="en-GB" sz="2800" b="1" dirty="0">
                <a:solidFill>
                  <a:srgbClr val="0066B3"/>
                </a:solidFill>
                <a:latin typeface="Aptos"/>
              </a:rPr>
              <a:t>                                           Feasibility and Project Plan</a:t>
            </a:r>
            <a:br>
              <a:rPr lang="en-GB" sz="2800" b="1" dirty="0">
                <a:solidFill>
                  <a:srgbClr val="0066B3"/>
                </a:solidFill>
                <a:latin typeface="Aptos"/>
              </a:rPr>
            </a:br>
            <a:br>
              <a:rPr lang="en-GB" sz="2800" b="1" dirty="0">
                <a:solidFill>
                  <a:srgbClr val="0066B3"/>
                </a:solidFill>
                <a:latin typeface="Aptos"/>
              </a:rPr>
            </a:br>
            <a:r>
              <a:rPr lang="en-GB" sz="2800" b="1" dirty="0">
                <a:solidFill>
                  <a:srgbClr val="0066B3"/>
                </a:solidFill>
                <a:latin typeface="Aptos"/>
              </a:rPr>
              <a:t> </a:t>
            </a:r>
            <a:r>
              <a:rPr lang="en-GB" sz="2000" dirty="0">
                <a:solidFill>
                  <a:srgbClr val="282D34"/>
                </a:solidFill>
                <a:latin typeface="Aptos"/>
              </a:rPr>
              <a:t>Tools: Python, Pandas, NumPy, Matplotlib/Seaborn, scikit-learn and Jupyter Notebook.</a:t>
            </a:r>
            <a:br>
              <a:rPr lang="en-GB" sz="2800" dirty="0">
                <a:solidFill>
                  <a:srgbClr val="282D34"/>
                </a:solidFill>
                <a:latin typeface="Aptos"/>
              </a:rPr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3084-8785-D922-6E65-837689E08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255829" cy="4916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0066B3"/>
                </a:solidFill>
              </a:rPr>
              <a:t>                                                                                   Planned phases and timeline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0066B3"/>
                </a:solidFill>
              </a:rPr>
              <a:t>PHASE                                                                1          2           3             4            5              6             7          8             9           10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Understand data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Clean &amp; explore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Customer + product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Market basket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Sales forecasting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Dashboard &amp; report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600" b="1" dirty="0">
                <a:solidFill>
                  <a:srgbClr val="C0232F"/>
                </a:solidFill>
              </a:rPr>
              <a:t>Expected outputs: cleaned dataset • customer groups • product combinations • sales forecast charts/dashboard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800" b="1" dirty="0">
              <a:solidFill>
                <a:srgbClr val="282D34"/>
              </a:solidFill>
            </a:endParaRPr>
          </a:p>
          <a:p>
            <a:pPr marL="0" indent="0">
              <a:buNone/>
            </a:pPr>
            <a:endParaRPr lang="en-GB" sz="1800" b="1" dirty="0">
              <a:solidFill>
                <a:srgbClr val="0066B3"/>
              </a:solidFill>
            </a:endParaRP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A24E6069-7BCD-61CC-8594-1FB16B4C8E65}"/>
              </a:ext>
            </a:extLst>
          </p:cNvPr>
          <p:cNvSpPr/>
          <p:nvPr/>
        </p:nvSpPr>
        <p:spPr>
          <a:xfrm>
            <a:off x="4255008" y="2871597"/>
            <a:ext cx="713232" cy="256032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20">
            <a:extLst>
              <a:ext uri="{FF2B5EF4-FFF2-40B4-BE49-F238E27FC236}">
                <a16:creationId xmlns:a16="http://schemas.microsoft.com/office/drawing/2014/main" id="{BA44CE53-6F2F-051B-60CB-6E05D0840F9F}"/>
              </a:ext>
            </a:extLst>
          </p:cNvPr>
          <p:cNvSpPr/>
          <p:nvPr/>
        </p:nvSpPr>
        <p:spPr>
          <a:xfrm>
            <a:off x="5029635" y="3298371"/>
            <a:ext cx="1251422" cy="258645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22">
            <a:extLst>
              <a:ext uri="{FF2B5EF4-FFF2-40B4-BE49-F238E27FC236}">
                <a16:creationId xmlns:a16="http://schemas.microsoft.com/office/drawing/2014/main" id="{832EC0C6-4EDA-BB9D-50F4-9B0AB006D469}"/>
              </a:ext>
            </a:extLst>
          </p:cNvPr>
          <p:cNvSpPr/>
          <p:nvPr/>
        </p:nvSpPr>
        <p:spPr>
          <a:xfrm>
            <a:off x="6411686" y="3831771"/>
            <a:ext cx="1110778" cy="297539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77082167-AB1A-0419-7669-FAA6393278C4}"/>
              </a:ext>
            </a:extLst>
          </p:cNvPr>
          <p:cNvSpPr/>
          <p:nvPr/>
        </p:nvSpPr>
        <p:spPr>
          <a:xfrm>
            <a:off x="7696200" y="4376057"/>
            <a:ext cx="653143" cy="285432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26">
            <a:extLst>
              <a:ext uri="{FF2B5EF4-FFF2-40B4-BE49-F238E27FC236}">
                <a16:creationId xmlns:a16="http://schemas.microsoft.com/office/drawing/2014/main" id="{A4BEBB94-E49E-119A-1018-8DC1BFECE6ED}"/>
              </a:ext>
            </a:extLst>
          </p:cNvPr>
          <p:cNvSpPr/>
          <p:nvPr/>
        </p:nvSpPr>
        <p:spPr>
          <a:xfrm>
            <a:off x="8882742" y="4931229"/>
            <a:ext cx="1186979" cy="308918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28">
            <a:extLst>
              <a:ext uri="{FF2B5EF4-FFF2-40B4-BE49-F238E27FC236}">
                <a16:creationId xmlns:a16="http://schemas.microsoft.com/office/drawing/2014/main" id="{005F3458-3D71-FA4E-7EBC-4BB1BB573E4C}"/>
              </a:ext>
            </a:extLst>
          </p:cNvPr>
          <p:cNvSpPr/>
          <p:nvPr/>
        </p:nvSpPr>
        <p:spPr>
          <a:xfrm>
            <a:off x="10174224" y="5291210"/>
            <a:ext cx="1179576" cy="307939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9012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C679-C991-A470-0497-29F1E622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444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                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63843-C48A-8F6E-F0CC-AEAA370A2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856"/>
            <a:ext cx="10515600" cy="496510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Conclusion:  </a:t>
            </a:r>
            <a:r>
              <a:rPr lang="en-GB" sz="1800" dirty="0" err="1"/>
              <a:t>RetailIQ</a:t>
            </a:r>
            <a:r>
              <a:rPr lang="en-GB" sz="1800" dirty="0"/>
              <a:t> provides an integrated approach to e-commerce analytics by connecting: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Data Cleaning + EDA + RFM + Market Basket Analysis + Forecasting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 dirty="0"/>
              <a:t>The project aims to transform raw e-commerce data into understandable customer, product, and sales insights.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Future Work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Improve customer segmentation.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Experiment with forecasting approaches.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Improve dashboard visualization.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Extend analysis with additional e-commerce data.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Provide more actionable business summaries. 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17838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860</Words>
  <Application>Microsoft Office PowerPoint</Application>
  <PresentationFormat>Widescreen</PresentationFormat>
  <Paragraphs>188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                                                          Objectives</vt:lpstr>
      <vt:lpstr>PowerPoint Presentation</vt:lpstr>
      <vt:lpstr>                                   Problem Gap Identification</vt:lpstr>
      <vt:lpstr>                         Innovation, Creativity, and Novelty </vt:lpstr>
      <vt:lpstr>                                                          Project Design</vt:lpstr>
      <vt:lpstr>                                                            Architecture</vt:lpstr>
      <vt:lpstr>                                                        Methodology</vt:lpstr>
      <vt:lpstr>                              Technical Soundness of the Project</vt:lpstr>
      <vt:lpstr>                                  Technical Soundness of the Project</vt:lpstr>
      <vt:lpstr>                                           Feasibility and Project Plan   Tools: Python, Pandas, NumPy, Matplotlib/Seaborn, scikit-learn and Jupyter Notebook. </vt:lpstr>
      <vt:lpstr>                                              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RetailIQ — Template Matched Project Review 1</dc:title>
  <dc:subject>Simplified e-commerce data science project review</dc:subject>
  <dc:creator>Team 15, Section 4</dc:creator>
  <cp:lastModifiedBy>Tanvi Bandaru</cp:lastModifiedBy>
  <cp:revision>39</cp:revision>
  <dcterms:created xsi:type="dcterms:W3CDTF">2026-08-08T06:33:56Z</dcterms:created>
  <dcterms:modified xsi:type="dcterms:W3CDTF">2026-09-22T03:49:23Z</dcterms:modified>
</cp:coreProperties>
</file>